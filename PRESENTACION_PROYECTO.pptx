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70" r:id="rId4"/>
    <p:sldId id="271" r:id="rId5"/>
    <p:sldId id="262" r:id="rId6"/>
    <p:sldId id="264" r:id="rId7"/>
    <p:sldId id="263" r:id="rId8"/>
    <p:sldId id="265" r:id="rId9"/>
    <p:sldId id="266" r:id="rId10"/>
    <p:sldId id="267" r:id="rId11"/>
    <p:sldId id="272" r:id="rId12"/>
    <p:sldId id="268" r:id="rId13"/>
    <p:sldId id="269" r:id="rId14"/>
  </p:sldIdLst>
  <p:sldSz cx="12192000" cy="6858000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ExtraBold" panose="020F0502020204030204" pitchFamily="2" charset="0"/>
      <p:bold r:id="rId20"/>
      <p:boldItalic r:id="rId21"/>
    </p:embeddedFont>
    <p:embeddedFont>
      <p:font typeface="Montserrat Medium" panose="020F0502020204030204" pitchFamily="2" charset="0"/>
      <p:regular r:id="rId22"/>
      <p:bold r:id="rId23"/>
      <p:italic r:id="rId24"/>
      <p:boldItalic r:id="rId25"/>
    </p:embeddedFont>
    <p:embeddedFont>
      <p:font typeface="Montserrat SemiBold" panose="020F0502020204030204" pitchFamily="2" charset="0"/>
      <p:regular r:id="rId26"/>
      <p:bold r:id="rId27"/>
      <p:italic r:id="rId28"/>
      <p:boldItalic r:id="rId29"/>
    </p:embeddedFont>
    <p:embeddedFont>
      <p:font typeface="Nunito" panose="020F0502020204030204" pitchFamily="2" charset="0"/>
      <p:regular r:id="rId30"/>
      <p:bold r:id="rId31"/>
      <p:italic r:id="rId32"/>
      <p:boldItalic r:id="rId33"/>
    </p:embeddedFont>
    <p:embeddedFont>
      <p:font typeface="Nunito ExtraBold" panose="020F0502020204030204" pitchFamily="2" charset="0"/>
      <p:bold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7">
          <p15:clr>
            <a:srgbClr val="A4A3A4"/>
          </p15:clr>
        </p15:guide>
        <p15:guide id="2" pos="6335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htZvtZjQE+LFy8D3sJZD2AVJU+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>
        <p:guide orient="horz" pos="527"/>
        <p:guide pos="63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4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19b8b6417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g219b8b6417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c5c2cae3d8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g2c5c2cae3d8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c5c2cae3d8_5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2c5c2cae3d8_5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c5c2cae3d8_5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2c5c2cae3d8_5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2B6F6E34-E5D7-7E91-0F56-938F8205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>
            <a:extLst>
              <a:ext uri="{FF2B5EF4-FFF2-40B4-BE49-F238E27FC236}">
                <a16:creationId xmlns:a16="http://schemas.microsoft.com/office/drawing/2014/main" id="{DADB35D7-A4F3-2B37-0C91-156A3CA52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8:notes">
            <a:extLst>
              <a:ext uri="{FF2B5EF4-FFF2-40B4-BE49-F238E27FC236}">
                <a16:creationId xmlns:a16="http://schemas.microsoft.com/office/drawing/2014/main" id="{A425236F-D3DA-1AC9-0667-2BF0EE62D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2281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ce30e8f42f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2ce30e8f42f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7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9371" y="-180795"/>
            <a:ext cx="7872158" cy="7098808"/>
            <a:chOff x="-39371" y="-180795"/>
            <a:chExt cx="7872158" cy="7098808"/>
          </a:xfrm>
        </p:grpSpPr>
        <p:pic>
          <p:nvPicPr>
            <p:cNvPr id="85" name="Google Shape;85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39371" y="-180795"/>
              <a:ext cx="7872158" cy="70988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65401" y="235434"/>
              <a:ext cx="1153418" cy="13200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894046" y="6126013"/>
              <a:ext cx="520640" cy="5138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" name="Google Shape;88;p1"/>
          <p:cNvSpPr txBox="1"/>
          <p:nvPr/>
        </p:nvSpPr>
        <p:spPr>
          <a:xfrm>
            <a:off x="446510" y="6381324"/>
            <a:ext cx="434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ES" sz="8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Derechos reservados WE Educación Ejecutiva: S001303560 / Registro INDECOPI</a:t>
            </a:r>
            <a:endParaRPr sz="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56788" y="4607412"/>
            <a:ext cx="1678431" cy="79282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46503" y="3348395"/>
            <a:ext cx="447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b="1" i="0" u="none" strike="noStrike" cap="none">
                <a:solidFill>
                  <a:srgbClr val="FFC300"/>
                </a:solidFill>
                <a:latin typeface="Nunito"/>
                <a:ea typeface="Nunito"/>
                <a:cs typeface="Nunito"/>
                <a:sym typeface="Nunito"/>
              </a:rPr>
              <a:t>PROYECTO INTEGRADOR</a:t>
            </a:r>
            <a:endParaRPr sz="2000" b="1" i="0" u="none" strike="noStrike" cap="none">
              <a:solidFill>
                <a:srgbClr val="FFC3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46504" y="3980225"/>
            <a:ext cx="5102400" cy="93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900" b="1" i="0" u="none" strike="noStrike" cap="none" dirty="0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INTEGRANTE:</a:t>
            </a:r>
            <a:endParaRPr sz="1900" b="1" i="0" u="none" strike="noStrike" cap="none" dirty="0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unito"/>
              <a:buChar char="❏"/>
            </a:pPr>
            <a:r>
              <a:rPr lang="es-PE" sz="1800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Ramirez</a:t>
            </a:r>
            <a:r>
              <a:rPr lang="es-PE" sz="1800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Rosales David Gianfranco</a:t>
            </a:r>
            <a:endParaRPr lang="es-PE" sz="1800" b="0" i="0" u="none" strike="noStrike" cap="none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50168" y="2019607"/>
            <a:ext cx="5212626" cy="146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2800" b="0" i="0" u="none" strike="noStrike" cap="none" dirty="0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“</a:t>
            </a:r>
            <a:r>
              <a:rPr lang="es-ES" sz="2800" dirty="0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Implementación de </a:t>
            </a:r>
            <a:r>
              <a:rPr lang="es-ES" sz="2800" dirty="0" err="1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Dashboard</a:t>
            </a:r>
            <a:r>
              <a:rPr lang="es-ES" sz="2800" dirty="0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 para control de aeropuertos y </a:t>
            </a:r>
            <a:r>
              <a:rPr lang="es-ES" sz="2800" dirty="0" err="1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aerolineas</a:t>
            </a:r>
            <a:r>
              <a:rPr lang="es-ES" sz="2800" dirty="0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”</a:t>
            </a:r>
            <a:endParaRPr sz="2800" b="0" i="0" u="none" strike="noStrike" cap="none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1433575" y="6429375"/>
            <a:ext cx="428700" cy="278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5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>
            <a:spLocks noGrp="1"/>
          </p:cNvSpPr>
          <p:nvPr>
            <p:ph type="title"/>
          </p:nvPr>
        </p:nvSpPr>
        <p:spPr>
          <a:xfrm>
            <a:off x="947192" y="1114170"/>
            <a:ext cx="4700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Montserrat ExtraBold"/>
              <a:buNone/>
            </a:pPr>
            <a:r>
              <a:rPr lang="es-ES" sz="6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ÍNDICE</a:t>
            </a:r>
            <a:endParaRPr sz="66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947200" y="2163725"/>
            <a:ext cx="6747300" cy="2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 SemiBold"/>
              <a:buAutoNum type="arabicPeriod"/>
            </a:pPr>
            <a:r>
              <a:rPr lang="es-ES" sz="15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Contexto y Planteamiento del proyecto</a:t>
            </a:r>
            <a:endParaRPr sz="15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marR="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 SemiBold"/>
              <a:buAutoNum type="arabicPeriod"/>
            </a:pPr>
            <a:r>
              <a:rPr lang="es-ES" sz="15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Contexto organizacional</a:t>
            </a:r>
            <a:endParaRPr sz="15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marR="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 SemiBold"/>
              <a:buAutoNum type="arabicPeriod"/>
            </a:pPr>
            <a:r>
              <a:rPr lang="es-ES" sz="15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 y Alcance del Proyecto</a:t>
            </a:r>
            <a:endParaRPr sz="15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 SemiBold"/>
              <a:buAutoNum type="arabicPeriod"/>
            </a:pPr>
            <a:r>
              <a:rPr lang="es-ES" sz="15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Diagnóstico y análisis</a:t>
            </a:r>
            <a:endParaRPr sz="15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 SemiBold"/>
              <a:buAutoNum type="arabicPeriod"/>
            </a:pPr>
            <a:r>
              <a:rPr lang="es-ES" sz="15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Propuesta de mejora </a:t>
            </a:r>
            <a:endParaRPr sz="15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 SemiBold"/>
              <a:buAutoNum type="arabicPeriod"/>
            </a:pPr>
            <a:r>
              <a:rPr lang="es-ES" sz="15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Resultados, conclusiones y recomendaciones</a:t>
            </a:r>
            <a:endParaRPr sz="15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 SemiBold"/>
              <a:buAutoNum type="arabicPeriod"/>
            </a:pPr>
            <a:r>
              <a:rPr lang="es-ES" sz="15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Estado Inicial VS Propuesto</a:t>
            </a:r>
            <a:endParaRPr sz="15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 SemiBold"/>
              <a:buAutoNum type="arabicPeriod"/>
            </a:pPr>
            <a:r>
              <a:rPr lang="es-ES" sz="15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15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 SemiBold"/>
              <a:buAutoNum type="arabicPeriod"/>
            </a:pPr>
            <a:r>
              <a:rPr lang="es-ES" sz="15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Recomendaciones</a:t>
            </a:r>
            <a:endParaRPr sz="15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33" name="Google Shape;13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638" y="326599"/>
            <a:ext cx="1762200" cy="83239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"/>
          <p:cNvSpPr/>
          <p:nvPr/>
        </p:nvSpPr>
        <p:spPr>
          <a:xfrm>
            <a:off x="-118571" y="941291"/>
            <a:ext cx="502500" cy="938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2667257">
            <a:off x="10541567" y="4385451"/>
            <a:ext cx="1391457" cy="272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"/>
          <p:cNvSpPr/>
          <p:nvPr/>
        </p:nvSpPr>
        <p:spPr>
          <a:xfrm>
            <a:off x="11433575" y="6429375"/>
            <a:ext cx="428700" cy="278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19b8b64171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6450" y="-18900"/>
            <a:ext cx="12310950" cy="14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19b8b64171_0_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3963" y="314429"/>
            <a:ext cx="1678431" cy="79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19b8b64171_0_3"/>
          <p:cNvSpPr txBox="1">
            <a:spLocks noGrp="1"/>
          </p:cNvSpPr>
          <p:nvPr>
            <p:ph type="title"/>
          </p:nvPr>
        </p:nvSpPr>
        <p:spPr>
          <a:xfrm>
            <a:off x="840826" y="438146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Nunito"/>
              <a:buAutoNum type="arabicPeriod"/>
            </a:pPr>
            <a:r>
              <a:rPr lang="es-ES" sz="19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CONTEXTO Y PLANTEAMIENTO DEL </a:t>
            </a:r>
            <a:r>
              <a:rPr lang="es-ES" sz="1900" b="1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PROYECTO</a:t>
            </a:r>
            <a:endParaRPr sz="1900" b="1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" name="Google Shape;112;g219b8b64171_0_3"/>
          <p:cNvSpPr/>
          <p:nvPr/>
        </p:nvSpPr>
        <p:spPr>
          <a:xfrm>
            <a:off x="642950" y="449400"/>
            <a:ext cx="152400" cy="522900"/>
          </a:xfrm>
          <a:prstGeom prst="roundRect">
            <a:avLst>
              <a:gd name="adj" fmla="val 16667"/>
            </a:avLst>
          </a:prstGeom>
          <a:solidFill>
            <a:srgbClr val="808080">
              <a:alpha val="6313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219b8b64171_0_3"/>
          <p:cNvSpPr/>
          <p:nvPr/>
        </p:nvSpPr>
        <p:spPr>
          <a:xfrm>
            <a:off x="11433575" y="6429375"/>
            <a:ext cx="428700" cy="278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1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g219b8b64171_0_3"/>
          <p:cNvSpPr txBox="1"/>
          <p:nvPr/>
        </p:nvSpPr>
        <p:spPr>
          <a:xfrm>
            <a:off x="903700" y="1833464"/>
            <a:ext cx="4237467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MX" sz="1200" dirty="0"/>
              <a:t>La Oficina de Estadísticas de Transporte del Departamento de Transporte de los Estados Unidos (DOT) monitorea constantemente la puntualidad de los vuelos nacionales operados por las principales aerolíneas. A través de su informe mensual sobre el Consumidor de Viajes Aéreos y el conjunto de datos sobre retrasos y cancelaciones de vuelos, se publica información detallada y resumida sobre el desempeño de los vuelos en cuanto a puntualidad, retrasos, cancelaciones y desvíos. Esta información es crucial para mejorar la gestión y operación del aeropuerto, asegurando un servicio eficiente y confiable para los pasajeros.</a:t>
            </a:r>
          </a:p>
        </p:txBody>
      </p:sp>
      <p:sp>
        <p:nvSpPr>
          <p:cNvPr id="118" name="Google Shape;118;g219b8b64171_0_3"/>
          <p:cNvSpPr txBox="1"/>
          <p:nvPr/>
        </p:nvSpPr>
        <p:spPr>
          <a:xfrm>
            <a:off x="930825" y="1481800"/>
            <a:ext cx="43353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002060"/>
                </a:solidFill>
                <a:latin typeface="Nunito"/>
                <a:ea typeface="Nunito"/>
                <a:cs typeface="Nunito"/>
                <a:sym typeface="Nunito"/>
              </a:rPr>
              <a:t>1.1. CONTEXTO ORGANIZACIONAL</a:t>
            </a:r>
            <a:endParaRPr sz="1600" b="1">
              <a:solidFill>
                <a:srgbClr val="00206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30" name="Picture 6" descr="Departamento de Transporte de los Estados Unidos - Wikipedia, la  enciclopedia libre">
            <a:extLst>
              <a:ext uri="{FF2B5EF4-FFF2-40B4-BE49-F238E27FC236}">
                <a16:creationId xmlns:a16="http://schemas.microsoft.com/office/drawing/2014/main" id="{BFF35B2D-90B7-411B-92F5-38589664E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848" y="1440584"/>
            <a:ext cx="5750451" cy="487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04794DA-1E56-462A-AB6B-E84BA200F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9973" y="4234091"/>
            <a:ext cx="2352675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6450" y="-18900"/>
            <a:ext cx="12310950" cy="1467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3963" y="314429"/>
            <a:ext cx="1678431" cy="79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/>
          <p:nvPr/>
        </p:nvSpPr>
        <p:spPr>
          <a:xfrm>
            <a:off x="642950" y="449400"/>
            <a:ext cx="152400" cy="522900"/>
          </a:xfrm>
          <a:prstGeom prst="roundRect">
            <a:avLst>
              <a:gd name="adj" fmla="val 16667"/>
            </a:avLst>
          </a:prstGeom>
          <a:solidFill>
            <a:srgbClr val="808080">
              <a:alpha val="6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 rot="-5400000">
            <a:off x="367725" y="4779075"/>
            <a:ext cx="2188200" cy="599400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VISIÓN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3"/>
          <p:cNvSpPr/>
          <p:nvPr/>
        </p:nvSpPr>
        <p:spPr>
          <a:xfrm rot="-5400000">
            <a:off x="362475" y="2792400"/>
            <a:ext cx="2198700" cy="604500"/>
          </a:xfrm>
          <a:prstGeom prst="chevron">
            <a:avLst>
              <a:gd name="adj" fmla="val 50000"/>
            </a:avLst>
          </a:prstGeom>
          <a:solidFill>
            <a:srgbClr val="002060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MISIÓN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77680" y="4356075"/>
            <a:ext cx="1247775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>
          <a:xfrm>
            <a:off x="7204793" y="3719063"/>
            <a:ext cx="1247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Integridad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8948306" y="3719063"/>
            <a:ext cx="1247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Transparencia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9077680" y="5598145"/>
            <a:ext cx="14298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Colaboración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867518" y="5627475"/>
            <a:ext cx="18690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Objetividad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3"/>
          <p:cNvSpPr txBox="1">
            <a:spLocks noGrp="1"/>
          </p:cNvSpPr>
          <p:nvPr>
            <p:ph type="title"/>
          </p:nvPr>
        </p:nvSpPr>
        <p:spPr>
          <a:xfrm>
            <a:off x="840826" y="438146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1. CONTEXTO Y PLANTEAMIENTO DEL </a:t>
            </a:r>
            <a:r>
              <a:rPr lang="es-ES" sz="1900" b="1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PROYECTO</a:t>
            </a:r>
            <a:endParaRPr sz="1900" b="1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7168475" y="1617300"/>
            <a:ext cx="2845500" cy="492600"/>
          </a:xfrm>
          <a:prstGeom prst="rect">
            <a:avLst/>
          </a:prstGeom>
          <a:solidFill>
            <a:srgbClr val="CFE2F3">
              <a:alpha val="557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VALORES</a:t>
            </a:r>
            <a:endParaRPr sz="2000">
              <a:solidFill>
                <a:srgbClr val="002060"/>
              </a:solidFill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930825" y="1481800"/>
            <a:ext cx="43353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2060"/>
                </a:solidFill>
                <a:latin typeface="Nunito"/>
                <a:ea typeface="Nunito"/>
                <a:cs typeface="Nunito"/>
                <a:sym typeface="Nunito"/>
              </a:rPr>
              <a:t>MISIÓN - VISIÓN - VALORES</a:t>
            </a:r>
            <a:endParaRPr sz="1600" b="1" dirty="0">
              <a:solidFill>
                <a:srgbClr val="00206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50" name="Picture 2" descr="Precisión, resolución, repetibilidad y todo eso - Inductive Sensors">
            <a:extLst>
              <a:ext uri="{FF2B5EF4-FFF2-40B4-BE49-F238E27FC236}">
                <a16:creationId xmlns:a16="http://schemas.microsoft.com/office/drawing/2014/main" id="{AD4F9F50-2DD5-4F23-BD0D-4EF33B98E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81" y="2499922"/>
            <a:ext cx="1325452" cy="117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odifican el reglamento de la norma que crea la Autoridad Nacional de  Transparencia y Acceso a la Información">
            <a:extLst>
              <a:ext uri="{FF2B5EF4-FFF2-40B4-BE49-F238E27FC236}">
                <a16:creationId xmlns:a16="http://schemas.microsoft.com/office/drawing/2014/main" id="{8EA55D43-BDB2-4A5E-BFFE-75C63F784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494" y="2479379"/>
            <a:ext cx="1790838" cy="119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Objetividad: qué es, significado y ejemplos - Enciclopedia Significados">
            <a:extLst>
              <a:ext uri="{FF2B5EF4-FFF2-40B4-BE49-F238E27FC236}">
                <a16:creationId xmlns:a16="http://schemas.microsoft.com/office/drawing/2014/main" id="{581548C1-E486-4D4C-8154-288942147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413" y="4440494"/>
            <a:ext cx="2006081" cy="112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86317C8-E781-4B20-A5C3-555CF4D93E20}"/>
              </a:ext>
            </a:extLst>
          </p:cNvPr>
          <p:cNvSpPr txBox="1"/>
          <p:nvPr/>
        </p:nvSpPr>
        <p:spPr>
          <a:xfrm>
            <a:off x="1863263" y="2269552"/>
            <a:ext cx="36769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 BTS tiene como objetivo proporcionar información precisa, confiable y accesible sobre el sistema de transporte de Estados Unidos. A través de la recopilación y análisis de datos, la agencia apoya la toma de decisiones informadas en políticas públicas, investigación y desarrollo de infraestructuras.</a:t>
            </a:r>
            <a:endParaRPr lang="es-MX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endParaRPr lang="es-PE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FEC5ACC-7F2D-4747-BFF0-D104C5BEE761}"/>
              </a:ext>
            </a:extLst>
          </p:cNvPr>
          <p:cNvSpPr txBox="1"/>
          <p:nvPr/>
        </p:nvSpPr>
        <p:spPr>
          <a:xfrm>
            <a:off x="2061711" y="4395827"/>
            <a:ext cx="23423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Ser una fuente líder de datos sobre transporte, contribuyendo al desarrollo de un sistema de transporte más seguro, eficiente y sostenible en Estados Unidos.</a:t>
            </a:r>
          </a:p>
          <a:p>
            <a:endParaRPr lang="es-P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2c5c2cae3d8_5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28574" y="-18900"/>
            <a:ext cx="3076549" cy="6584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2c5c2cae3d8_5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1251" y="-18900"/>
            <a:ext cx="12235750" cy="14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2c5c2cae3d8_5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3963" y="314429"/>
            <a:ext cx="1678431" cy="79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2c5c2cae3d8_5_0"/>
          <p:cNvSpPr txBox="1">
            <a:spLocks noGrp="1"/>
          </p:cNvSpPr>
          <p:nvPr>
            <p:ph type="title"/>
          </p:nvPr>
        </p:nvSpPr>
        <p:spPr>
          <a:xfrm>
            <a:off x="840826" y="438146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19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1. CONTEXTO Y PLANTEAMIENTO DEL PROYECTO</a:t>
            </a:r>
            <a:endParaRPr sz="1900"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g2c5c2cae3d8_5_0"/>
          <p:cNvSpPr/>
          <p:nvPr/>
        </p:nvSpPr>
        <p:spPr>
          <a:xfrm>
            <a:off x="642950" y="449400"/>
            <a:ext cx="152400" cy="522900"/>
          </a:xfrm>
          <a:prstGeom prst="roundRect">
            <a:avLst>
              <a:gd name="adj" fmla="val 16667"/>
            </a:avLst>
          </a:prstGeom>
          <a:solidFill>
            <a:srgbClr val="808080">
              <a:alpha val="6313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2c5c2cae3d8_5_0"/>
          <p:cNvSpPr txBox="1"/>
          <p:nvPr/>
        </p:nvSpPr>
        <p:spPr>
          <a:xfrm>
            <a:off x="160750" y="1798275"/>
            <a:ext cx="2614500" cy="1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1900" b="0" i="0" u="none" strike="noStrike" cap="none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1.2. OBJETIVO Y ALCANCE</a:t>
            </a:r>
            <a:r>
              <a:rPr lang="es-ES" sz="1900" b="0" i="0" u="none" strike="noStrike" cap="none">
                <a:solidFill>
                  <a:srgbClr val="00299C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 </a:t>
            </a:r>
            <a:r>
              <a:rPr lang="es-ES" sz="1900" b="0" i="0" u="none" strike="noStrike" cap="none">
                <a:solidFill>
                  <a:srgbClr val="2A8BFC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DEL PROYECTO</a:t>
            </a:r>
            <a:endParaRPr sz="1900" b="0" i="0" u="none" strike="noStrike" cap="none">
              <a:solidFill>
                <a:srgbClr val="2A8BFC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183" name="Google Shape;183;g2c5c2cae3d8_5_0"/>
          <p:cNvSpPr txBox="1"/>
          <p:nvPr/>
        </p:nvSpPr>
        <p:spPr>
          <a:xfrm>
            <a:off x="4358478" y="2200522"/>
            <a:ext cx="120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000F5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O1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2c5c2cae3d8_5_0"/>
          <p:cNvSpPr txBox="1"/>
          <p:nvPr/>
        </p:nvSpPr>
        <p:spPr>
          <a:xfrm>
            <a:off x="8827426" y="2947725"/>
            <a:ext cx="2577600" cy="1019248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225" tIns="142225" rIns="142225" bIns="142225" anchor="ctr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0" i="0" u="none" strike="noStrike" cap="none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Desarrollar reportes y </a:t>
            </a:r>
            <a:r>
              <a:rPr lang="es-MX" sz="1100" b="0" i="0" u="none" strike="noStrike" cap="none" dirty="0" err="1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dashboards</a:t>
            </a:r>
            <a:r>
              <a:rPr lang="es-MX" sz="1100" b="0" i="0" u="none" strike="noStrike" cap="none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interactivos</a:t>
            </a:r>
            <a:endParaRPr sz="900" b="0" i="0" u="none" strike="noStrike" cap="none" dirty="0">
              <a:solidFill>
                <a:srgbClr val="30303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g2c5c2cae3d8_5_0"/>
          <p:cNvSpPr txBox="1"/>
          <p:nvPr/>
        </p:nvSpPr>
        <p:spPr>
          <a:xfrm>
            <a:off x="7156789" y="4418212"/>
            <a:ext cx="116100" cy="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0" rIns="1270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endParaRPr sz="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2c5c2cae3d8_5_0"/>
          <p:cNvSpPr txBox="1"/>
          <p:nvPr/>
        </p:nvSpPr>
        <p:spPr>
          <a:xfrm>
            <a:off x="6249826" y="4931214"/>
            <a:ext cx="2577600" cy="1019248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8000" tIns="128000" rIns="128000" bIns="128000" anchor="ctr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0" i="0" u="none" strike="noStrike" cap="none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Evaluar el rendimiento y tráfico de los aeropuertos</a:t>
            </a:r>
            <a:endParaRPr sz="1000" b="0" i="0" u="none" strike="noStrike" cap="none" dirty="0">
              <a:solidFill>
                <a:srgbClr val="30303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7" name="Google Shape;187;g2c5c2cae3d8_5_0"/>
          <p:cNvSpPr txBox="1"/>
          <p:nvPr/>
        </p:nvSpPr>
        <p:spPr>
          <a:xfrm>
            <a:off x="3672226" y="2911535"/>
            <a:ext cx="2577600" cy="1019248"/>
          </a:xfrm>
          <a:prstGeom prst="rect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225" tIns="142225" rIns="142225" bIns="142225" anchor="ctr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MX" sz="1100" b="0" i="0" u="none" strike="noStrike" cap="none" dirty="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Analizar el desempeño de las aerolíneas</a:t>
            </a:r>
            <a:endParaRPr sz="800" b="1" i="0" u="none" strike="noStrike" cap="none" dirty="0">
              <a:solidFill>
                <a:srgbClr val="30303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g2c5c2cae3d8_5_0"/>
          <p:cNvSpPr/>
          <p:nvPr/>
        </p:nvSpPr>
        <p:spPr>
          <a:xfrm>
            <a:off x="4604116" y="2123573"/>
            <a:ext cx="714000" cy="554100"/>
          </a:xfrm>
          <a:prstGeom prst="ellipse">
            <a:avLst/>
          </a:prstGeom>
          <a:noFill/>
          <a:ln w="2857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2c5c2cae3d8_5_0"/>
          <p:cNvSpPr txBox="1"/>
          <p:nvPr/>
        </p:nvSpPr>
        <p:spPr>
          <a:xfrm>
            <a:off x="6936080" y="4220214"/>
            <a:ext cx="120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000F5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O2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c5c2cae3d8_5_0"/>
          <p:cNvSpPr/>
          <p:nvPr/>
        </p:nvSpPr>
        <p:spPr>
          <a:xfrm>
            <a:off x="7181718" y="4143264"/>
            <a:ext cx="714000" cy="554100"/>
          </a:xfrm>
          <a:prstGeom prst="ellipse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2c5c2cae3d8_5_0"/>
          <p:cNvSpPr txBox="1"/>
          <p:nvPr/>
        </p:nvSpPr>
        <p:spPr>
          <a:xfrm>
            <a:off x="9513666" y="2236698"/>
            <a:ext cx="120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000F5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O3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2c5c2cae3d8_5_0"/>
          <p:cNvSpPr/>
          <p:nvPr/>
        </p:nvSpPr>
        <p:spPr>
          <a:xfrm>
            <a:off x="9759304" y="2159748"/>
            <a:ext cx="714000" cy="554100"/>
          </a:xfrm>
          <a:prstGeom prst="ellipse">
            <a:avLst/>
          </a:prstGeom>
          <a:noFill/>
          <a:ln w="2857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2c5c2cae3d8_5_0"/>
          <p:cNvSpPr txBox="1"/>
          <p:nvPr/>
        </p:nvSpPr>
        <p:spPr>
          <a:xfrm>
            <a:off x="6000351" y="1621861"/>
            <a:ext cx="3076549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3500" b="1" i="0" u="none" strike="noStrike" cap="none" dirty="0">
                <a:solidFill>
                  <a:srgbClr val="002060"/>
                </a:solidFill>
                <a:latin typeface="Nunito"/>
                <a:ea typeface="Nunito"/>
                <a:cs typeface="Nunito"/>
                <a:sym typeface="Nunito"/>
              </a:rPr>
              <a:t>OBJETIVOS</a:t>
            </a:r>
            <a:endParaRPr sz="3500" b="1" i="0" u="none" strike="noStrike" cap="none" dirty="0">
              <a:solidFill>
                <a:srgbClr val="00206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7" name="Google Shape;197;g2c5c2cae3d8_5_0"/>
          <p:cNvSpPr/>
          <p:nvPr/>
        </p:nvSpPr>
        <p:spPr>
          <a:xfrm>
            <a:off x="11433575" y="6429375"/>
            <a:ext cx="428700" cy="278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sz="1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08;g2c5c2cae3d8_5_47">
            <a:extLst>
              <a:ext uri="{FF2B5EF4-FFF2-40B4-BE49-F238E27FC236}">
                <a16:creationId xmlns:a16="http://schemas.microsoft.com/office/drawing/2014/main" id="{DE70ACD9-87B7-2CCA-E0F5-13EF738CAB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60726" y="0"/>
            <a:ext cx="64829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1050" y="-18875"/>
            <a:ext cx="12235550" cy="139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5"/>
          <p:cNvSpPr txBox="1"/>
          <p:nvPr/>
        </p:nvSpPr>
        <p:spPr>
          <a:xfrm>
            <a:off x="313405" y="1440567"/>
            <a:ext cx="598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0" i="0" u="none" strike="noStrike" cap="none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</a:t>
            </a:r>
            <a:endParaRPr sz="1000" b="0" i="0" u="none" strike="noStrike" cap="none">
              <a:solidFill>
                <a:srgbClr val="2A8B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758425" y="1494270"/>
            <a:ext cx="2332932" cy="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20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DIAGNÓSTICO</a:t>
            </a:r>
            <a:endParaRPr sz="2000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14266" y="6384523"/>
            <a:ext cx="5429400" cy="1167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12237" y="198408"/>
            <a:ext cx="1420497" cy="67204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"/>
          <p:cNvSpPr txBox="1"/>
          <p:nvPr/>
        </p:nvSpPr>
        <p:spPr>
          <a:xfrm>
            <a:off x="447675" y="156425"/>
            <a:ext cx="5806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31" name="Google Shape;231;p5"/>
          <p:cNvSpPr txBox="1">
            <a:spLocks noGrp="1"/>
          </p:cNvSpPr>
          <p:nvPr>
            <p:ph type="title"/>
          </p:nvPr>
        </p:nvSpPr>
        <p:spPr>
          <a:xfrm>
            <a:off x="840826" y="438146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19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2. DIAGNÓSTICO Y ANÁLISIS</a:t>
            </a:r>
            <a:endParaRPr sz="1900"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642950" y="449400"/>
            <a:ext cx="152400" cy="522900"/>
          </a:xfrm>
          <a:prstGeom prst="roundRect">
            <a:avLst>
              <a:gd name="adj" fmla="val 16667"/>
            </a:avLst>
          </a:prstGeom>
          <a:solidFill>
            <a:srgbClr val="808080">
              <a:alpha val="6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11433575" y="6429375"/>
            <a:ext cx="428700" cy="278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sz="1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6254476" y="1425288"/>
            <a:ext cx="5519917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¿Cómo se puede utilizar bases de datos, para dar seguimiento, cumplimiento y mejora continua en los procesos de gestión en la producci</a:t>
            </a:r>
            <a:r>
              <a:rPr lang="es-E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ón</a:t>
            </a:r>
            <a:r>
              <a:rPr lang="es-ES" sz="12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2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2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Las bases de datos permiten centralizar, organizar y estructurar grandes volúmenes de información, facilitando su análisis para el seguimiento y control de los procesos productivos. Al integrar datos históricos y en tiempo real, se puede monitorear el cumplimiento de metas, detectar desviaciones y evaluar el desempeño de recursos, lo que impulsa una mejora continua basada en </a:t>
            </a:r>
            <a:r>
              <a:rPr lang="es-MX" sz="1200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evidencia.En</a:t>
            </a:r>
            <a:r>
              <a:rPr lang="es-MX" sz="12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el contexto de tu </a:t>
            </a:r>
            <a:r>
              <a:rPr lang="es-MX" sz="1200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dashboard</a:t>
            </a:r>
            <a:r>
              <a:rPr lang="es-MX" sz="12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, aunque los datos corresponden a operaciones aéreas, el mismo enfoque es aplicable: al consolidar información de vuelos, aeropuertos y aerolíneas en bases estructuradas, se puede dar seguimiento puntual a indicadores clave, identificar patrones de retrasos o cancelaciones, y optimizar la asignación de recursos para mejorar la eficiencia operativa.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2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Situación actual y cómo el </a:t>
            </a:r>
            <a:r>
              <a:rPr lang="es-MX" sz="1200" b="1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  <a:r>
              <a:rPr lang="es-MX" sz="12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ayuda a mejorarla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20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Actualmente, la información se encuentra dispersa en múltiples archivos Excel con datos de vuelos, aeropuertos y aerolíneas, lo que dificulta la consolidación manual para análisis efectivos. Esto genera retrasos en la disponibilidad de información y aumenta la probabilidad de errores por procesos manuales.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20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 un </a:t>
            </a:r>
            <a:r>
              <a:rPr lang="es-MX" sz="120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  <a:r>
              <a:rPr lang="es-MX" sz="120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integrado en </a:t>
            </a:r>
            <a:r>
              <a:rPr lang="es-MX" sz="120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Power</a:t>
            </a:r>
            <a:r>
              <a:rPr lang="es-MX" sz="120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BI, se automatiza la consolidación y visualización de los datos, reduciendo el tiempo de obtención de información fiable. Además, permite detectar en tiempo real tendencias, desviaciones y oportunidades de mejora, facilitando una gestión proactiva y evitando reprocesos.</a:t>
            </a:r>
            <a:endParaRPr lang="es-MX" sz="1200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417607" y="2087067"/>
            <a:ext cx="53475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2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Este proyecto desarrollado en </a:t>
            </a:r>
            <a:r>
              <a:rPr lang="es-MX" sz="12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Power</a:t>
            </a:r>
            <a:r>
              <a:rPr lang="es-MX" sz="12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BI tiene como objetivo convertir datos crudos en información valiosa, que permita optimizar la toma de decisiones en procesos productivos. A través del seguimiento de métricas relevantes y el análisis de tendencias históricas, se busca mejorar el control operativo, prever posibles contratiempos y potenciar la gestión eficiente con una visión proactiva y estratégica.</a:t>
            </a:r>
            <a:endParaRPr sz="12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 descr="PentappsPower Bi - Pentapps">
            <a:extLst>
              <a:ext uri="{FF2B5EF4-FFF2-40B4-BE49-F238E27FC236}">
                <a16:creationId xmlns:a16="http://schemas.microsoft.com/office/drawing/2014/main" id="{3D40A571-BB3F-677F-622D-ADFD76377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05" y="3733597"/>
            <a:ext cx="4264330" cy="239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2c5c2cae3d8_5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60726" y="0"/>
            <a:ext cx="64829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2c5c2cae3d8_5_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1050" y="-18875"/>
            <a:ext cx="12235550" cy="139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2c5c2cae3d8_5_47"/>
          <p:cNvSpPr txBox="1"/>
          <p:nvPr/>
        </p:nvSpPr>
        <p:spPr>
          <a:xfrm>
            <a:off x="1865168" y="1371600"/>
            <a:ext cx="598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0" i="0" u="none" strike="noStrike" cap="none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2.</a:t>
            </a:r>
            <a:endParaRPr sz="1000" b="0" i="0" u="none" strike="noStrike" cap="none">
              <a:solidFill>
                <a:srgbClr val="2A8B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2c5c2cae3d8_5_47"/>
          <p:cNvSpPr txBox="1"/>
          <p:nvPr/>
        </p:nvSpPr>
        <p:spPr>
          <a:xfrm>
            <a:off x="2310188" y="1425303"/>
            <a:ext cx="2082600" cy="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ALCANCE</a:t>
            </a:r>
            <a:endParaRPr sz="14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g2c5c2cae3d8_5_47"/>
          <p:cNvSpPr/>
          <p:nvPr/>
        </p:nvSpPr>
        <p:spPr>
          <a:xfrm>
            <a:off x="414266" y="6384523"/>
            <a:ext cx="5429400" cy="1167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g2c5c2cae3d8_5_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12237" y="198408"/>
            <a:ext cx="1420497" cy="67204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c5c2cae3d8_5_47"/>
          <p:cNvSpPr txBox="1"/>
          <p:nvPr/>
        </p:nvSpPr>
        <p:spPr>
          <a:xfrm>
            <a:off x="447675" y="156425"/>
            <a:ext cx="5806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5" name="Google Shape;215;g2c5c2cae3d8_5_47"/>
          <p:cNvSpPr txBox="1">
            <a:spLocks noGrp="1"/>
          </p:cNvSpPr>
          <p:nvPr>
            <p:ph type="title"/>
          </p:nvPr>
        </p:nvSpPr>
        <p:spPr>
          <a:xfrm>
            <a:off x="840826" y="438146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19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1. CONTEXTO Y PLANTEAMIENTO DEL PROYECTO</a:t>
            </a:r>
            <a:endParaRPr sz="1900"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6" name="Google Shape;216;g2c5c2cae3d8_5_47"/>
          <p:cNvSpPr/>
          <p:nvPr/>
        </p:nvSpPr>
        <p:spPr>
          <a:xfrm>
            <a:off x="642950" y="449400"/>
            <a:ext cx="152400" cy="522900"/>
          </a:xfrm>
          <a:prstGeom prst="roundRect">
            <a:avLst>
              <a:gd name="adj" fmla="val 16667"/>
            </a:avLst>
          </a:prstGeom>
          <a:solidFill>
            <a:srgbClr val="808080">
              <a:alpha val="6313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2c5c2cae3d8_5_47"/>
          <p:cNvSpPr/>
          <p:nvPr/>
        </p:nvSpPr>
        <p:spPr>
          <a:xfrm>
            <a:off x="11433575" y="6429375"/>
            <a:ext cx="428700" cy="278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sz="1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" name="Google Shape;218;g2c5c2cae3d8_5_47"/>
          <p:cNvSpPr txBox="1"/>
          <p:nvPr/>
        </p:nvSpPr>
        <p:spPr>
          <a:xfrm>
            <a:off x="153050" y="2525275"/>
            <a:ext cx="5855400" cy="215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8895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+mj-lt"/>
              <a:buAutoNum type="arabicPeriod"/>
            </a:pPr>
            <a:r>
              <a:rPr lang="es-ES" sz="13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 estudio se está realizando en base a la información </a:t>
            </a:r>
            <a:r>
              <a:rPr lang="es-ES" sz="13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 aerolíneas, aeropuertos y vuelos del 2015.</a:t>
            </a:r>
            <a:endParaRPr sz="1300" b="0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001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+mj-lt"/>
              <a:buAutoNum type="arabicPeriod"/>
            </a:pPr>
            <a:endParaRPr sz="1300" b="0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88950" marR="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+mj-lt"/>
              <a:buAutoNum type="arabicPeriod"/>
            </a:pPr>
            <a:r>
              <a:rPr lang="es-ES" sz="13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 análisis permitirá Identificar patrones de </a:t>
            </a:r>
            <a:r>
              <a:rPr lang="es-PE" sz="13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retrasos, tendencia de vuelos, entre otros.</a:t>
            </a:r>
            <a:endParaRPr sz="1300" b="0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00100" marR="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+mj-lt"/>
              <a:buAutoNum type="arabicPeriod"/>
            </a:pPr>
            <a:endParaRPr sz="1300" b="0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88950" marR="0" lvl="0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+mj-lt"/>
              <a:buAutoNum type="arabicPeriod"/>
            </a:pPr>
            <a:r>
              <a:rPr lang="es-ES" sz="13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base de la investigación permite identificar la </a:t>
            </a:r>
            <a:r>
              <a:rPr lang="es-PE" sz="13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carga de las aerolíneas y vuelos por </a:t>
            </a:r>
            <a:r>
              <a:rPr lang="es-PE" sz="13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dia</a:t>
            </a:r>
            <a:r>
              <a:rPr lang="es-PE" sz="13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de semana o aeropuerto</a:t>
            </a:r>
            <a:endParaRPr sz="1300" b="0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001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+mj-lt"/>
              <a:buAutoNum type="arabicPeriod"/>
            </a:pPr>
            <a:endParaRPr sz="1300" b="0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g2c5c2cae3d8_5_47"/>
          <p:cNvSpPr/>
          <p:nvPr/>
        </p:nvSpPr>
        <p:spPr>
          <a:xfrm>
            <a:off x="6636025" y="2525275"/>
            <a:ext cx="5297100" cy="199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Recursos Involucrados en el proyecto:</a:t>
            </a:r>
            <a:endParaRPr sz="12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arenR"/>
            </a:pPr>
            <a:r>
              <a:rPr lang="es-ES" sz="12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Datos:</a:t>
            </a:r>
            <a:r>
              <a:rPr lang="es-ES" sz="1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Tiempo de vuelo(llegada, retraso, </a:t>
            </a: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etc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), vuelos, aerolíneas, aeropuertos, etc</a:t>
            </a:r>
            <a:r>
              <a:rPr lang="es-ES" sz="1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457200" marR="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arenR"/>
            </a:pPr>
            <a:r>
              <a:rPr lang="es-ES" sz="12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Herramientas Tecnológicas:</a:t>
            </a:r>
            <a:r>
              <a:rPr lang="es-ES" sz="1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12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Power</a:t>
            </a:r>
            <a:r>
              <a:rPr lang="es-MX" sz="1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Bi para la visualización de datos</a:t>
            </a:r>
            <a:endParaRPr sz="1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arenR"/>
            </a:pPr>
            <a:r>
              <a:rPr lang="es-MX" sz="12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Tiempo:</a:t>
            </a:r>
            <a:r>
              <a:rPr lang="es-MX" sz="1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6 semanas </a:t>
            </a:r>
            <a:r>
              <a:rPr lang="es-MX" sz="12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academicas</a:t>
            </a:r>
            <a:endParaRPr lang="es-MX" sz="1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2c5c2cae3d8_5_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050" y="-18875"/>
            <a:ext cx="12235550" cy="139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2c5c2cae3d8_5_68"/>
          <p:cNvSpPr/>
          <p:nvPr/>
        </p:nvSpPr>
        <p:spPr>
          <a:xfrm>
            <a:off x="414266" y="6384523"/>
            <a:ext cx="5429400" cy="1167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g2c5c2cae3d8_5_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12237" y="198408"/>
            <a:ext cx="1420497" cy="67204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2c5c2cae3d8_5_68"/>
          <p:cNvSpPr txBox="1"/>
          <p:nvPr/>
        </p:nvSpPr>
        <p:spPr>
          <a:xfrm>
            <a:off x="447675" y="156425"/>
            <a:ext cx="5806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4" name="Google Shape;244;g2c5c2cae3d8_5_68"/>
          <p:cNvSpPr txBox="1">
            <a:spLocks noGrp="1"/>
          </p:cNvSpPr>
          <p:nvPr>
            <p:ph type="title"/>
          </p:nvPr>
        </p:nvSpPr>
        <p:spPr>
          <a:xfrm>
            <a:off x="840826" y="438146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19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2. DIAGNÓSTICO Y ANÁLISIS</a:t>
            </a:r>
            <a:endParaRPr sz="1900"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" name="Google Shape;245;g2c5c2cae3d8_5_68"/>
          <p:cNvSpPr/>
          <p:nvPr/>
        </p:nvSpPr>
        <p:spPr>
          <a:xfrm>
            <a:off x="642950" y="449400"/>
            <a:ext cx="152400" cy="522900"/>
          </a:xfrm>
          <a:prstGeom prst="roundRect">
            <a:avLst>
              <a:gd name="adj" fmla="val 16667"/>
            </a:avLst>
          </a:prstGeom>
          <a:solidFill>
            <a:srgbClr val="808080">
              <a:alpha val="6313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2c5c2cae3d8_5_68"/>
          <p:cNvSpPr/>
          <p:nvPr/>
        </p:nvSpPr>
        <p:spPr>
          <a:xfrm>
            <a:off x="11433575" y="6429375"/>
            <a:ext cx="428700" cy="278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sz="1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2C3F18-E2D5-DDB3-65B0-4C35A233CBCD}"/>
              </a:ext>
            </a:extLst>
          </p:cNvPr>
          <p:cNvSpPr txBox="1"/>
          <p:nvPr/>
        </p:nvSpPr>
        <p:spPr>
          <a:xfrm>
            <a:off x="642950" y="2293349"/>
            <a:ext cx="593668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4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Impacto en las Áreas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s-MX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s-MX" b="1" dirty="0"/>
              <a:t>Área de Gestión: </a:t>
            </a:r>
            <a:r>
              <a:rPr lang="es-MX" dirty="0"/>
              <a:t>Dispondrá de un monitoreo en tiempo real sobre el desempeño de vuelos, incluyendo puntualidad, demoras y utilización de aeronaves, facilitando respuestas rápidas para minimizar interrupciones y optimizar la operación diaria.</a:t>
            </a:r>
          </a:p>
          <a:p>
            <a:r>
              <a:rPr lang="es-MX" b="1" dirty="0"/>
              <a:t>Área de Planificación y Control:</a:t>
            </a:r>
            <a:r>
              <a:rPr lang="es-MX" dirty="0"/>
              <a:t> Tendrá acceso a informes interactivos que comparan horarios programados con resultados reales, permitiendo detectar desviaciones y ajustar planes para mejorar la eficiencia y cumplimiento de rutas.</a:t>
            </a:r>
          </a:p>
          <a:p>
            <a:r>
              <a:rPr lang="es-MX" b="1" dirty="0"/>
              <a:t>Área de Mantenimiento:</a:t>
            </a:r>
            <a:r>
              <a:rPr lang="es-MX" dirty="0"/>
              <a:t> Podrá analizar tendencias de uso y retrasos relacionados con el estado de las aeronaves, facilitando la programación de mantenimientos preventivos y reduciendo tiempos de inactividad.</a:t>
            </a:r>
          </a:p>
        </p:txBody>
      </p:sp>
      <p:pic>
        <p:nvPicPr>
          <p:cNvPr id="3074" name="Picture 2" descr="Quién forma la tripulación de un avión? - World Aviation ATO">
            <a:extLst>
              <a:ext uri="{FF2B5EF4-FFF2-40B4-BE49-F238E27FC236}">
                <a16:creationId xmlns:a16="http://schemas.microsoft.com/office/drawing/2014/main" id="{55B0FC78-A938-4E9F-ACAF-6E908F2CF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450" y="1653321"/>
            <a:ext cx="4249600" cy="400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251" y="-18900"/>
            <a:ext cx="12235753" cy="14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3963" y="314429"/>
            <a:ext cx="1678431" cy="79282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6"/>
          <p:cNvSpPr txBox="1">
            <a:spLocks noGrp="1"/>
          </p:cNvSpPr>
          <p:nvPr>
            <p:ph type="title"/>
          </p:nvPr>
        </p:nvSpPr>
        <p:spPr>
          <a:xfrm>
            <a:off x="840826" y="438146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19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3. PROPUESTA DE </a:t>
            </a:r>
            <a:r>
              <a:rPr lang="es-ES" sz="1900" b="1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MEJORA</a:t>
            </a:r>
            <a:endParaRPr sz="1900" b="1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642950" y="449400"/>
            <a:ext cx="152400" cy="522900"/>
          </a:xfrm>
          <a:prstGeom prst="roundRect">
            <a:avLst>
              <a:gd name="adj" fmla="val 16667"/>
            </a:avLst>
          </a:prstGeom>
          <a:solidFill>
            <a:srgbClr val="808080">
              <a:alpha val="6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642942" y="1628775"/>
            <a:ext cx="598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0" i="0" u="none" strike="noStrike" cap="none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</a:t>
            </a:r>
            <a:endParaRPr sz="1000" b="0" i="0" u="none" strike="noStrike" cap="none">
              <a:solidFill>
                <a:srgbClr val="2A8B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1241442" y="1801276"/>
            <a:ext cx="4285590" cy="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20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DASHBOARD DE ANALISIS DE ORDENES DE TRABAJO</a:t>
            </a:r>
            <a:endParaRPr sz="20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0" name="Google Shape;26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185950"/>
            <a:ext cx="12192000" cy="6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6"/>
          <p:cNvSpPr/>
          <p:nvPr/>
        </p:nvSpPr>
        <p:spPr>
          <a:xfrm>
            <a:off x="11433575" y="6429375"/>
            <a:ext cx="428700" cy="278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</a:t>
            </a:r>
            <a:endParaRPr sz="1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2" name="Google Shape;262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5812" y="2182186"/>
            <a:ext cx="4783228" cy="318603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/>
          <p:nvPr/>
        </p:nvSpPr>
        <p:spPr>
          <a:xfrm>
            <a:off x="642950" y="2803925"/>
            <a:ext cx="5427000" cy="201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 creación de un panel de </a:t>
            </a:r>
            <a:r>
              <a:rPr lang="es-MX" sz="14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visualizacion</a:t>
            </a:r>
            <a:r>
              <a:rPr lang="es-MX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facilita una interpretación más precisa y resumida de nuestra situación actual y los objetivos futuros. Por esta razón, se han diseñado métricas específicas para seguimiento por categorías y </a:t>
            </a:r>
            <a:r>
              <a:rPr lang="es-MX" sz="14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departamentos.Esto</a:t>
            </a:r>
            <a:r>
              <a:rPr lang="es-MX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contribuirá a la toma de decisiones estratégicas para organizar la fabricación y optimizar el manejo de las órdenes de trabajo.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251" y="-18900"/>
            <a:ext cx="12235753" cy="14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3963" y="314429"/>
            <a:ext cx="1678431" cy="79282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/>
          <p:cNvSpPr/>
          <p:nvPr/>
        </p:nvSpPr>
        <p:spPr>
          <a:xfrm>
            <a:off x="642950" y="449400"/>
            <a:ext cx="152400" cy="522900"/>
          </a:xfrm>
          <a:prstGeom prst="roundRect">
            <a:avLst>
              <a:gd name="adj" fmla="val 16667"/>
            </a:avLst>
          </a:prstGeom>
          <a:solidFill>
            <a:srgbClr val="808080">
              <a:alpha val="6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1661348" y="1382450"/>
            <a:ext cx="2716200" cy="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1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ESTADO INICIAL</a:t>
            </a:r>
            <a:endParaRPr sz="12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2" name="Google Shape;272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185950"/>
            <a:ext cx="12192000" cy="6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 txBox="1">
            <a:spLocks noGrp="1"/>
          </p:cNvSpPr>
          <p:nvPr>
            <p:ph type="title"/>
          </p:nvPr>
        </p:nvSpPr>
        <p:spPr>
          <a:xfrm>
            <a:off x="840825" y="438150"/>
            <a:ext cx="89532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19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4. RESULTADOS, RECOMENDACIONES Y CONCLUSIONES</a:t>
            </a:r>
            <a:r>
              <a:rPr lang="es-ES" sz="1900" b="1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 DEL PROYECTO</a:t>
            </a:r>
            <a:endParaRPr sz="1900" b="1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7797151" y="1370450"/>
            <a:ext cx="2716200" cy="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12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ESTADO PROPUESTO</a:t>
            </a:r>
            <a:endParaRPr sz="12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5" name="Google Shape;275;p8"/>
          <p:cNvCxnSpPr>
            <a:endCxn id="272" idx="0"/>
          </p:cNvCxnSpPr>
          <p:nvPr/>
        </p:nvCxnSpPr>
        <p:spPr>
          <a:xfrm>
            <a:off x="6093000" y="1382350"/>
            <a:ext cx="3000" cy="480360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76" name="Google Shape;276;p8"/>
          <p:cNvSpPr/>
          <p:nvPr/>
        </p:nvSpPr>
        <p:spPr>
          <a:xfrm>
            <a:off x="11433575" y="6429375"/>
            <a:ext cx="428700" cy="278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8</a:t>
            </a:r>
            <a:endParaRPr sz="1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ED03BC6-6DEE-45C4-9081-015B10E5D6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899" y="1897650"/>
            <a:ext cx="3130648" cy="19608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15BA1C6-E453-4159-A25F-C90E36F899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152" y="4041800"/>
            <a:ext cx="4905122" cy="196088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16B7103-6FEE-41C1-AE71-C81B32F7AC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0914" y="1861422"/>
            <a:ext cx="2417890" cy="199711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0CAC9CD-7F2B-1121-68A8-9AD39366DB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4015" y="1867869"/>
            <a:ext cx="5682472" cy="39500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E9D42AEB-7EBE-2584-6B1C-5ECD9F273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8">
            <a:extLst>
              <a:ext uri="{FF2B5EF4-FFF2-40B4-BE49-F238E27FC236}">
                <a16:creationId xmlns:a16="http://schemas.microsoft.com/office/drawing/2014/main" id="{B3166C16-5A52-875A-8F01-77E22E0E80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251" y="-18900"/>
            <a:ext cx="12235753" cy="14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8">
            <a:extLst>
              <a:ext uri="{FF2B5EF4-FFF2-40B4-BE49-F238E27FC236}">
                <a16:creationId xmlns:a16="http://schemas.microsoft.com/office/drawing/2014/main" id="{1FDA4ED6-8DC9-38CF-1FDD-91678B13A1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3963" y="314429"/>
            <a:ext cx="1678431" cy="79282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>
            <a:extLst>
              <a:ext uri="{FF2B5EF4-FFF2-40B4-BE49-F238E27FC236}">
                <a16:creationId xmlns:a16="http://schemas.microsoft.com/office/drawing/2014/main" id="{4F3EE32D-82BD-EFBF-3F7A-C910BB176B4B}"/>
              </a:ext>
            </a:extLst>
          </p:cNvPr>
          <p:cNvSpPr/>
          <p:nvPr/>
        </p:nvSpPr>
        <p:spPr>
          <a:xfrm>
            <a:off x="642950" y="449400"/>
            <a:ext cx="152400" cy="522900"/>
          </a:xfrm>
          <a:prstGeom prst="roundRect">
            <a:avLst>
              <a:gd name="adj" fmla="val 16667"/>
            </a:avLst>
          </a:prstGeom>
          <a:solidFill>
            <a:srgbClr val="808080">
              <a:alpha val="6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>
            <a:extLst>
              <a:ext uri="{FF2B5EF4-FFF2-40B4-BE49-F238E27FC236}">
                <a16:creationId xmlns:a16="http://schemas.microsoft.com/office/drawing/2014/main" id="{2FA36A28-8B7F-A619-1D48-8978207B7DF6}"/>
              </a:ext>
            </a:extLst>
          </p:cNvPr>
          <p:cNvSpPr txBox="1"/>
          <p:nvPr/>
        </p:nvSpPr>
        <p:spPr>
          <a:xfrm>
            <a:off x="3517993" y="1358550"/>
            <a:ext cx="5156012" cy="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12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PUBLICACION DEL DASHBOARD EN POWER BI SERVICE</a:t>
            </a:r>
            <a:endParaRPr sz="12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8">
            <a:extLst>
              <a:ext uri="{FF2B5EF4-FFF2-40B4-BE49-F238E27FC236}">
                <a16:creationId xmlns:a16="http://schemas.microsoft.com/office/drawing/2014/main" id="{6487F6F2-CD3A-259C-AD5B-1212D33E55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0825" y="438150"/>
            <a:ext cx="89532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19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4. RESULTADOS, RECOMENDACIONES Y CONCLUSIONES</a:t>
            </a:r>
            <a:r>
              <a:rPr lang="es-ES" sz="1900" b="1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 DEL PROYECTO</a:t>
            </a:r>
            <a:endParaRPr sz="1900" b="1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6" name="Google Shape;276;p8">
            <a:extLst>
              <a:ext uri="{FF2B5EF4-FFF2-40B4-BE49-F238E27FC236}">
                <a16:creationId xmlns:a16="http://schemas.microsoft.com/office/drawing/2014/main" id="{C3BCA612-A6E8-6EA6-4A3A-E076DE35DBE7}"/>
              </a:ext>
            </a:extLst>
          </p:cNvPr>
          <p:cNvSpPr/>
          <p:nvPr/>
        </p:nvSpPr>
        <p:spPr>
          <a:xfrm>
            <a:off x="11433575" y="6429375"/>
            <a:ext cx="428700" cy="278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8</a:t>
            </a:r>
            <a:endParaRPr sz="1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9FEC3E-B55F-136A-DB20-57DBA0168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815600"/>
            <a:ext cx="10804850" cy="486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9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60726" y="0"/>
            <a:ext cx="64829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1251" y="-18900"/>
            <a:ext cx="12235753" cy="14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3963" y="314429"/>
            <a:ext cx="1678431" cy="79282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840825" y="438150"/>
            <a:ext cx="89532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19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4. RESULTADOS, RECOMENDACIONES Y CONCLUSIONES</a:t>
            </a:r>
            <a:r>
              <a:rPr lang="es-ES" sz="1900" b="1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 DEL PROYECTO</a:t>
            </a:r>
            <a:endParaRPr sz="1900" b="1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42950" y="449400"/>
            <a:ext cx="152400" cy="522900"/>
          </a:xfrm>
          <a:prstGeom prst="roundRect">
            <a:avLst>
              <a:gd name="adj" fmla="val 16667"/>
            </a:avLst>
          </a:prstGeom>
          <a:solidFill>
            <a:srgbClr val="808080">
              <a:alpha val="6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642942" y="1500175"/>
            <a:ext cx="598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0" i="0" u="none" strike="noStrike" cap="none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</a:t>
            </a:r>
            <a:endParaRPr sz="1000" b="0" i="0" u="none" strike="noStrike" cap="none">
              <a:solidFill>
                <a:srgbClr val="2A8B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1241448" y="1553875"/>
            <a:ext cx="2716200" cy="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CONCLUSIONES</a:t>
            </a:r>
            <a:endParaRPr sz="12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0" name="Google Shape;29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147002" y="6185950"/>
            <a:ext cx="12339002" cy="6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 txBox="1"/>
          <p:nvPr/>
        </p:nvSpPr>
        <p:spPr>
          <a:xfrm>
            <a:off x="6562527" y="1500175"/>
            <a:ext cx="598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0" i="0" u="none" strike="noStrike" cap="none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2.</a:t>
            </a:r>
            <a:endParaRPr sz="1000" b="0" i="0" u="none" strike="noStrike" cap="none">
              <a:solidFill>
                <a:srgbClr val="2A8B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7233223" y="1607575"/>
            <a:ext cx="2716200" cy="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1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RECOMENDACIONES</a:t>
            </a:r>
            <a:endParaRPr sz="12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11433575" y="6429375"/>
            <a:ext cx="428700" cy="2787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9</a:t>
            </a:r>
            <a:endParaRPr sz="1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E7721C9-4370-4D0C-A85E-7E1FBE70F6BC}"/>
              </a:ext>
            </a:extLst>
          </p:cNvPr>
          <p:cNvSpPr txBox="1"/>
          <p:nvPr/>
        </p:nvSpPr>
        <p:spPr>
          <a:xfrm>
            <a:off x="643064" y="2366689"/>
            <a:ext cx="490877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El uso de un </a:t>
            </a:r>
            <a:r>
              <a:rPr lang="es-MX" b="1" dirty="0" err="1">
                <a:solidFill>
                  <a:schemeClr val="bg1"/>
                </a:solidFill>
              </a:rPr>
              <a:t>dashboard</a:t>
            </a:r>
            <a:r>
              <a:rPr lang="es-MX" b="1" dirty="0">
                <a:solidFill>
                  <a:schemeClr val="bg1"/>
                </a:solidFill>
              </a:rPr>
              <a:t> integrado que consolida información de vuelos, aeropuertos y aerolíneas permite una visión clara y en tiempo real del desempeño operativo, facilitando la identificación de retrasos, cancelaciones y causas asociadas. Esta centralización elimina la dependencia de procesos manuales, mejora la precisión de los análisis y acelera la toma de decisiones.</a:t>
            </a:r>
          </a:p>
          <a:p>
            <a:r>
              <a:rPr lang="es-MX" b="1" dirty="0">
                <a:solidFill>
                  <a:schemeClr val="bg1"/>
                </a:solidFill>
              </a:rPr>
              <a:t>El análisis de los datos históricos y actuales ayuda a anticipar problemas operativos, optimizar la asignación de recursos y mejorar la eficiencia general de la operación aérea. Además, la visualización dinámica de indicadores clave contribuye a una gestión proactiva y basada en datos.</a:t>
            </a:r>
          </a:p>
          <a:p>
            <a:endParaRPr lang="es-PE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F1C111-68AA-403F-9F83-455E0146A7B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41774" y="2469568"/>
            <a:ext cx="495281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Automatizar la actualización de datos: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Implementar procesos automáticos para la carga y actualización periódica de la información, garantizando la disponibilidad oportuna y confiable de los datos en el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Autorizar y capacitar: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Asegurar que los usuarios clave estén entrenados en el uso del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maximizar el valor de la herramienta y fomentar una cultura de decisiones basadas en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 alertas: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Definir alertas y umbrales críticos para reaccionar rápidamente ante desviaciones significativas en los tiempos de vuelo, cancelaciones o uso de recursos.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2ce30e8f42f_4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251" y="-18900"/>
            <a:ext cx="12235750" cy="14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2ce30e8f42f_4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3963" y="314429"/>
            <a:ext cx="1678431" cy="79282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2ce30e8f42f_4_0"/>
          <p:cNvSpPr txBox="1"/>
          <p:nvPr/>
        </p:nvSpPr>
        <p:spPr>
          <a:xfrm>
            <a:off x="2967450" y="3105750"/>
            <a:ext cx="62571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5000" b="0" i="0" u="none" strike="noStrike" cap="none" dirty="0">
                <a:solidFill>
                  <a:srgbClr val="00206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GRACIAS</a:t>
            </a:r>
            <a:endParaRPr sz="50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1177</Words>
  <Application>Microsoft Office PowerPoint</Application>
  <PresentationFormat>Panorámica</PresentationFormat>
  <Paragraphs>99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3" baseType="lpstr">
      <vt:lpstr>Arial</vt:lpstr>
      <vt:lpstr>Montserrat</vt:lpstr>
      <vt:lpstr>Nunito</vt:lpstr>
      <vt:lpstr>Montserrat ExtraBold</vt:lpstr>
      <vt:lpstr>Montserrat SemiBold</vt:lpstr>
      <vt:lpstr>Nunito ExtraBold</vt:lpstr>
      <vt:lpstr>Montserrat Medium</vt:lpstr>
      <vt:lpstr>Roboto</vt:lpstr>
      <vt:lpstr>Calibri</vt:lpstr>
      <vt:lpstr>Tema de Office</vt:lpstr>
      <vt:lpstr>Presentación de PowerPoint</vt:lpstr>
      <vt:lpstr>ÍNDICE</vt:lpstr>
      <vt:lpstr>CONTEXTO Y PLANTEAMIENTO DEL PROYECTO</vt:lpstr>
      <vt:lpstr>1. CONTEXTO Y PLANTEAMIENTO DEL PROYECTO</vt:lpstr>
      <vt:lpstr>1. CONTEXTO Y PLANTEAMIENTO DEL PROYECTO</vt:lpstr>
      <vt:lpstr>2. DIAGNÓSTICO Y ANÁLISIS</vt:lpstr>
      <vt:lpstr>1. CONTEXTO Y PLANTEAMIENTO DEL PROYECTO</vt:lpstr>
      <vt:lpstr>2. DIAGNÓSTICO Y ANÁLISIS</vt:lpstr>
      <vt:lpstr>3. PROPUESTA DE MEJORA</vt:lpstr>
      <vt:lpstr>4. RESULTADOS, RECOMENDACIONES Y CONCLUSIONES DEL PROYECTO</vt:lpstr>
      <vt:lpstr>4. RESULTADOS, RECOMENDACIONES Y CONCLUSIONES DEL PROYECTO</vt:lpstr>
      <vt:lpstr>4. RESULTADOS, RECOMENDACIONES Y CONCLUSIONES DEL PROYECTO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Adriana Karolina Villafuerte Cruz</dc:creator>
  <cp:lastModifiedBy>David</cp:lastModifiedBy>
  <cp:revision>5</cp:revision>
  <dcterms:modified xsi:type="dcterms:W3CDTF">2025-12-29T00:58:48Z</dcterms:modified>
</cp:coreProperties>
</file>